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 id="260" r:id="rId5"/>
    <p:sldId id="258" r:id="rId6"/>
    <p:sldId id="261" r:id="rId7"/>
    <p:sldId id="262" r:id="rId8"/>
    <p:sldId id="264" r:id="rId9"/>
    <p:sldId id="265" r:id="rId10"/>
    <p:sldId id="263"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0" d="100"/>
          <a:sy n="110" d="100"/>
        </p:scale>
        <p:origin x="76"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3/15/2026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3/15/2026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3/15/2026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3/15/2026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3/15/2026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3/15/2026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3/15/2026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3/15/2026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3/15/2026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3/15/2026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3/15/2026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7835" y="1655064"/>
            <a:ext cx="8825658" cy="1458109"/>
          </a:xfrm>
        </p:spPr>
        <p:txBody>
          <a:bodyPr/>
          <a:lstStyle/>
          <a:p>
            <a:pPr algn="ctr">
              <a:lnSpc>
                <a:spcPct val="200000"/>
              </a:lnSpc>
            </a:pPr>
            <a:r>
              <a:rPr lang="en-US" sz="3600" dirty="0"/>
              <a:t>Exploratory data Analysis using Python </a:t>
            </a:r>
            <a:endParaRPr lang="en-IN" sz="3600" dirty="0"/>
          </a:p>
        </p:txBody>
      </p:sp>
      <p:sp>
        <p:nvSpPr>
          <p:cNvPr id="3" name="Subtitle 2"/>
          <p:cNvSpPr>
            <a:spLocks noGrp="1"/>
          </p:cNvSpPr>
          <p:nvPr>
            <p:ph type="subTitle" idx="1"/>
          </p:nvPr>
        </p:nvSpPr>
        <p:spPr/>
        <p:txBody>
          <a:bodyPr/>
          <a:lstStyle/>
          <a:p>
            <a:pPr algn="r"/>
            <a:r>
              <a:rPr lang="en-US" dirty="0"/>
              <a:t>Dataset - Business Sales</a:t>
            </a:r>
            <a:endParaRPr lang="en-IN" dirty="0"/>
          </a:p>
        </p:txBody>
      </p:sp>
    </p:spTree>
    <p:extLst>
      <p:ext uri="{BB962C8B-B14F-4D97-AF65-F5344CB8AC3E}">
        <p14:creationId xmlns:p14="http://schemas.microsoft.com/office/powerpoint/2010/main" val="2322957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662" y="88115"/>
            <a:ext cx="9404723" cy="779986"/>
          </a:xfrm>
        </p:spPr>
        <p:txBody>
          <a:bodyPr/>
          <a:lstStyle/>
          <a:p>
            <a:r>
              <a:rPr lang="en-US" dirty="0"/>
              <a:t>Project Goal</a:t>
            </a:r>
            <a:endParaRPr lang="en-IN" dirty="0"/>
          </a:p>
        </p:txBody>
      </p:sp>
      <p:sp>
        <p:nvSpPr>
          <p:cNvPr id="3" name="Content Placeholder 2"/>
          <p:cNvSpPr>
            <a:spLocks noGrp="1"/>
          </p:cNvSpPr>
          <p:nvPr>
            <p:ph idx="1"/>
          </p:nvPr>
        </p:nvSpPr>
        <p:spPr>
          <a:xfrm>
            <a:off x="1230634" y="1155880"/>
            <a:ext cx="8946541" cy="4195481"/>
          </a:xfrm>
        </p:spPr>
        <p:txBody>
          <a:bodyPr/>
          <a:lstStyle/>
          <a:p>
            <a:r>
              <a:rPr lang="en-US" dirty="0"/>
              <a:t>Deep analysis on Business Dataset to </a:t>
            </a:r>
          </a:p>
          <a:p>
            <a:pPr lvl="1"/>
            <a:r>
              <a:rPr lang="en-US" dirty="0"/>
              <a:t>Check how the data is spread around mean</a:t>
            </a:r>
          </a:p>
          <a:p>
            <a:pPr lvl="1"/>
            <a:r>
              <a:rPr lang="en-US" dirty="0"/>
              <a:t>Identify if there are outliers</a:t>
            </a:r>
          </a:p>
          <a:p>
            <a:pPr lvl="1"/>
            <a:r>
              <a:rPr lang="en-US" dirty="0"/>
              <a:t>Treating the missing values across the features</a:t>
            </a:r>
          </a:p>
          <a:p>
            <a:pPr lvl="1"/>
            <a:r>
              <a:rPr lang="en-US" dirty="0"/>
              <a:t>D</a:t>
            </a:r>
            <a:r>
              <a:rPr lang="en-IN" dirty="0"/>
              <a:t>istribution and multi-collinearity among the features</a:t>
            </a:r>
          </a:p>
          <a:p>
            <a:pPr lvl="1"/>
            <a:r>
              <a:rPr lang="en-IN" dirty="0"/>
              <a:t>A</a:t>
            </a:r>
            <a:r>
              <a:rPr lang="en-US" dirty="0"/>
              <a:t>ggregating/grouping the data to find trends across them, and raw analysis with out any feature encoding</a:t>
            </a:r>
          </a:p>
          <a:p>
            <a:pPr lvl="1"/>
            <a:r>
              <a:rPr lang="en-US" dirty="0"/>
              <a:t>Use the advanced python techniques like </a:t>
            </a:r>
            <a:r>
              <a:rPr lang="en-US" dirty="0" err="1"/>
              <a:t>lamda</a:t>
            </a:r>
            <a:r>
              <a:rPr lang="en-US" dirty="0"/>
              <a:t> and user defined functions.  Pivot tables </a:t>
            </a:r>
            <a:r>
              <a:rPr lang="en-US" dirty="0" err="1"/>
              <a:t>etc</a:t>
            </a:r>
            <a:endParaRPr lang="en-US" dirty="0"/>
          </a:p>
          <a:p>
            <a:pPr lvl="1"/>
            <a:r>
              <a:rPr lang="en-US" dirty="0"/>
              <a:t>Finally detail out the insights learnt from the overall analysis</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3976887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083" y="94129"/>
            <a:ext cx="9404723" cy="802909"/>
          </a:xfrm>
        </p:spPr>
        <p:txBody>
          <a:bodyPr/>
          <a:lstStyle/>
          <a:p>
            <a:r>
              <a:rPr lang="en-US" dirty="0"/>
              <a:t>Dataset Explanation</a:t>
            </a:r>
            <a:endParaRPr lang="en-IN" dirty="0"/>
          </a:p>
        </p:txBody>
      </p:sp>
      <p:sp>
        <p:nvSpPr>
          <p:cNvPr id="3" name="Content Placeholder 2"/>
          <p:cNvSpPr>
            <a:spLocks noGrp="1"/>
          </p:cNvSpPr>
          <p:nvPr>
            <p:ph idx="1"/>
          </p:nvPr>
        </p:nvSpPr>
        <p:spPr>
          <a:xfrm>
            <a:off x="195857" y="776926"/>
            <a:ext cx="7768272" cy="4540352"/>
          </a:xfrm>
        </p:spPr>
        <p:txBody>
          <a:bodyPr/>
          <a:lstStyle/>
          <a:p>
            <a:r>
              <a:rPr lang="en-US" dirty="0"/>
              <a:t>Source : Kaggle.com</a:t>
            </a:r>
          </a:p>
          <a:p>
            <a:r>
              <a:rPr lang="en-US" sz="1800" dirty="0"/>
              <a:t>Dataset containing 19 features and 3000 records, features:</a:t>
            </a:r>
          </a:p>
          <a:p>
            <a:pPr marL="0" indent="0">
              <a:buNone/>
            </a:pPr>
            <a:endParaRPr lang="en-US" dirty="0"/>
          </a:p>
          <a:p>
            <a:pPr marL="0" indent="0">
              <a:buNone/>
            </a:pPr>
            <a:endParaRPr lang="en-US" dirty="0"/>
          </a:p>
          <a:p>
            <a:endParaRPr lang="en-IN" dirty="0"/>
          </a:p>
        </p:txBody>
      </p:sp>
      <p:sp>
        <p:nvSpPr>
          <p:cNvPr id="4" name="TextBox 3"/>
          <p:cNvSpPr txBox="1"/>
          <p:nvPr/>
        </p:nvSpPr>
        <p:spPr>
          <a:xfrm>
            <a:off x="456273" y="1610249"/>
            <a:ext cx="2724912" cy="369332"/>
          </a:xfrm>
          <a:prstGeom prst="rect">
            <a:avLst/>
          </a:prstGeom>
          <a:noFill/>
        </p:spPr>
        <p:txBody>
          <a:bodyPr wrap="square" rtlCol="0">
            <a:spAutoFit/>
          </a:bodyPr>
          <a:lstStyle/>
          <a:p>
            <a:r>
              <a:rPr lang="en-US" dirty="0"/>
              <a:t>Numerical features</a:t>
            </a:r>
            <a:endParaRPr lang="en-IN" dirty="0"/>
          </a:p>
        </p:txBody>
      </p:sp>
      <p:sp>
        <p:nvSpPr>
          <p:cNvPr id="5" name="TextBox 4"/>
          <p:cNvSpPr txBox="1"/>
          <p:nvPr/>
        </p:nvSpPr>
        <p:spPr>
          <a:xfrm>
            <a:off x="394979" y="1887273"/>
            <a:ext cx="3255264" cy="1815882"/>
          </a:xfrm>
          <a:prstGeom prst="rect">
            <a:avLst/>
          </a:prstGeom>
          <a:noFill/>
        </p:spPr>
        <p:txBody>
          <a:bodyPr wrap="square" rtlCol="0">
            <a:spAutoFit/>
          </a:bodyPr>
          <a:lstStyle/>
          <a:p>
            <a:pPr marL="285750" indent="-285750">
              <a:buFont typeface="Wingdings" panose="05000000000000000000" pitchFamily="2" charset="2"/>
              <a:buChar char="Ø"/>
            </a:pPr>
            <a:r>
              <a:rPr lang="en-IN" sz="1400" dirty="0" err="1"/>
              <a:t>units_sold</a:t>
            </a:r>
            <a:r>
              <a:rPr lang="en-IN" sz="1400" dirty="0"/>
              <a:t> </a:t>
            </a:r>
          </a:p>
          <a:p>
            <a:pPr marL="285750" indent="-285750">
              <a:buFont typeface="Wingdings" panose="05000000000000000000" pitchFamily="2" charset="2"/>
              <a:buChar char="Ø"/>
            </a:pPr>
            <a:r>
              <a:rPr lang="en-IN" sz="1400" dirty="0" err="1"/>
              <a:t>unit_price</a:t>
            </a:r>
            <a:endParaRPr lang="en-IN" sz="1400" dirty="0"/>
          </a:p>
          <a:p>
            <a:pPr marL="285750" indent="-285750">
              <a:buFont typeface="Wingdings" panose="05000000000000000000" pitchFamily="2" charset="2"/>
              <a:buChar char="Ø"/>
            </a:pPr>
            <a:r>
              <a:rPr lang="en-IN" sz="1400" dirty="0"/>
              <a:t> </a:t>
            </a:r>
            <a:r>
              <a:rPr lang="en-IN" sz="1400" dirty="0" err="1"/>
              <a:t>unit_cost</a:t>
            </a:r>
            <a:endParaRPr lang="en-IN" sz="1400" dirty="0"/>
          </a:p>
          <a:p>
            <a:pPr marL="285750" indent="-285750">
              <a:buFont typeface="Wingdings" panose="05000000000000000000" pitchFamily="2" charset="2"/>
              <a:buChar char="Ø"/>
            </a:pPr>
            <a:r>
              <a:rPr lang="en-IN" sz="1400" dirty="0"/>
              <a:t> revenue </a:t>
            </a:r>
          </a:p>
          <a:p>
            <a:pPr marL="285750" indent="-285750">
              <a:buFont typeface="Wingdings" panose="05000000000000000000" pitchFamily="2" charset="2"/>
              <a:buChar char="Ø"/>
            </a:pPr>
            <a:r>
              <a:rPr lang="en-IN" sz="1400" dirty="0"/>
              <a:t>Margin</a:t>
            </a:r>
          </a:p>
          <a:p>
            <a:pPr marL="285750" indent="-285750">
              <a:buFont typeface="Wingdings" panose="05000000000000000000" pitchFamily="2" charset="2"/>
              <a:buChar char="Ø"/>
            </a:pPr>
            <a:r>
              <a:rPr lang="en-IN" sz="1400" dirty="0"/>
              <a:t> </a:t>
            </a:r>
            <a:r>
              <a:rPr lang="en-IN" sz="1400" dirty="0" err="1"/>
              <a:t>discount_pct</a:t>
            </a:r>
            <a:r>
              <a:rPr lang="en-IN" sz="1400" dirty="0"/>
              <a:t> </a:t>
            </a:r>
          </a:p>
          <a:p>
            <a:pPr marL="285750" indent="-285750">
              <a:buFont typeface="Wingdings" panose="05000000000000000000" pitchFamily="2" charset="2"/>
              <a:buChar char="Ø"/>
            </a:pPr>
            <a:r>
              <a:rPr lang="en-IN" sz="1400" dirty="0" err="1"/>
              <a:t>supplier_rating</a:t>
            </a:r>
            <a:endParaRPr lang="en-IN" sz="1400" dirty="0"/>
          </a:p>
          <a:p>
            <a:pPr marL="285750" indent="-285750">
              <a:buFont typeface="Wingdings" panose="05000000000000000000" pitchFamily="2" charset="2"/>
              <a:buChar char="Ø"/>
            </a:pPr>
            <a:r>
              <a:rPr lang="en-IN" sz="1400" dirty="0" err="1"/>
              <a:t>inventory_units</a:t>
            </a:r>
            <a:endParaRPr lang="en-IN" sz="1400" dirty="0"/>
          </a:p>
        </p:txBody>
      </p:sp>
      <p:sp>
        <p:nvSpPr>
          <p:cNvPr id="6" name="TextBox 5"/>
          <p:cNvSpPr txBox="1"/>
          <p:nvPr/>
        </p:nvSpPr>
        <p:spPr>
          <a:xfrm>
            <a:off x="336954" y="3918622"/>
            <a:ext cx="2724912" cy="369332"/>
          </a:xfrm>
          <a:prstGeom prst="rect">
            <a:avLst/>
          </a:prstGeom>
          <a:noFill/>
        </p:spPr>
        <p:txBody>
          <a:bodyPr wrap="square" rtlCol="0">
            <a:spAutoFit/>
          </a:bodyPr>
          <a:lstStyle/>
          <a:p>
            <a:r>
              <a:rPr lang="en-US" dirty="0"/>
              <a:t>Categorical features</a:t>
            </a:r>
            <a:endParaRPr lang="en-IN" dirty="0"/>
          </a:p>
        </p:txBody>
      </p:sp>
      <p:sp>
        <p:nvSpPr>
          <p:cNvPr id="7" name="TextBox 6"/>
          <p:cNvSpPr txBox="1"/>
          <p:nvPr/>
        </p:nvSpPr>
        <p:spPr>
          <a:xfrm>
            <a:off x="336954" y="4287905"/>
            <a:ext cx="3255264" cy="2462213"/>
          </a:xfrm>
          <a:prstGeom prst="rect">
            <a:avLst/>
          </a:prstGeom>
          <a:noFill/>
        </p:spPr>
        <p:txBody>
          <a:bodyPr wrap="square" rtlCol="0">
            <a:spAutoFit/>
          </a:bodyPr>
          <a:lstStyle/>
          <a:p>
            <a:pPr marL="285750" indent="-285750">
              <a:buFont typeface="Wingdings" panose="05000000000000000000" pitchFamily="2" charset="2"/>
              <a:buChar char="Ø"/>
            </a:pPr>
            <a:r>
              <a:rPr lang="en-IN" sz="1400" dirty="0" err="1"/>
              <a:t>Sku</a:t>
            </a:r>
            <a:r>
              <a:rPr lang="en-IN" sz="1400" dirty="0"/>
              <a:t> </a:t>
            </a:r>
          </a:p>
          <a:p>
            <a:pPr marL="285750" indent="-285750">
              <a:buFont typeface="Wingdings" panose="05000000000000000000" pitchFamily="2" charset="2"/>
              <a:buChar char="Ø"/>
            </a:pPr>
            <a:r>
              <a:rPr lang="en-IN" sz="1400" dirty="0" err="1"/>
              <a:t>product_name</a:t>
            </a:r>
            <a:r>
              <a:rPr lang="en-IN" sz="1400" dirty="0"/>
              <a:t> </a:t>
            </a:r>
          </a:p>
          <a:p>
            <a:pPr marL="285750" indent="-285750">
              <a:buFont typeface="Wingdings" panose="05000000000000000000" pitchFamily="2" charset="2"/>
              <a:buChar char="Ø"/>
            </a:pPr>
            <a:r>
              <a:rPr lang="en-IN" sz="1400" dirty="0"/>
              <a:t>category </a:t>
            </a:r>
          </a:p>
          <a:p>
            <a:pPr marL="285750" indent="-285750">
              <a:buFont typeface="Wingdings" panose="05000000000000000000" pitchFamily="2" charset="2"/>
              <a:buChar char="Ø"/>
            </a:pPr>
            <a:r>
              <a:rPr lang="en-IN" sz="1400" dirty="0" err="1"/>
              <a:t>sub_category</a:t>
            </a:r>
            <a:endParaRPr lang="en-IN" sz="1400" dirty="0"/>
          </a:p>
          <a:p>
            <a:pPr marL="285750" indent="-285750">
              <a:buFont typeface="Wingdings" panose="05000000000000000000" pitchFamily="2" charset="2"/>
              <a:buChar char="Ø"/>
            </a:pPr>
            <a:r>
              <a:rPr lang="en-IN" sz="1400" dirty="0"/>
              <a:t>channel </a:t>
            </a:r>
          </a:p>
          <a:p>
            <a:pPr marL="285750" indent="-285750">
              <a:buFont typeface="Wingdings" panose="05000000000000000000" pitchFamily="2" charset="2"/>
              <a:buChar char="Ø"/>
            </a:pPr>
            <a:r>
              <a:rPr lang="en-IN" sz="1400" dirty="0"/>
              <a:t>Region</a:t>
            </a:r>
          </a:p>
          <a:p>
            <a:pPr marL="285750" indent="-285750">
              <a:buFont typeface="Wingdings" panose="05000000000000000000" pitchFamily="2" charset="2"/>
              <a:buChar char="Ø"/>
            </a:pPr>
            <a:r>
              <a:rPr lang="en-IN" sz="1400" dirty="0"/>
              <a:t>country</a:t>
            </a:r>
          </a:p>
          <a:p>
            <a:pPr marL="285750" indent="-285750">
              <a:buFont typeface="Wingdings" panose="05000000000000000000" pitchFamily="2" charset="2"/>
              <a:buChar char="Ø"/>
            </a:pPr>
            <a:r>
              <a:rPr lang="en-IN" sz="1400" dirty="0" err="1"/>
              <a:t>customer_segment</a:t>
            </a:r>
            <a:endParaRPr lang="en-IN" sz="1400" dirty="0"/>
          </a:p>
          <a:p>
            <a:pPr marL="285750" indent="-285750">
              <a:buFont typeface="Wingdings" panose="05000000000000000000" pitchFamily="2" charset="2"/>
              <a:buChar char="Ø"/>
            </a:pPr>
            <a:r>
              <a:rPr lang="en-IN" sz="1400" dirty="0" err="1"/>
              <a:t>supplier_grade</a:t>
            </a:r>
            <a:endParaRPr lang="en-IN" sz="1400" dirty="0"/>
          </a:p>
          <a:p>
            <a:pPr marL="285750" indent="-285750">
              <a:buFont typeface="Wingdings" panose="05000000000000000000" pitchFamily="2" charset="2"/>
              <a:buChar char="Ø"/>
            </a:pPr>
            <a:r>
              <a:rPr lang="en-IN" sz="1400" dirty="0" err="1"/>
              <a:t>review_text</a:t>
            </a:r>
            <a:r>
              <a:rPr lang="en-IN" sz="1400" dirty="0"/>
              <a:t> </a:t>
            </a:r>
          </a:p>
          <a:p>
            <a:pPr marL="285750" indent="-285750">
              <a:buFont typeface="Wingdings" panose="05000000000000000000" pitchFamily="2" charset="2"/>
              <a:buChar char="Ø"/>
            </a:pPr>
            <a:r>
              <a:rPr lang="en-IN" sz="1400" dirty="0" err="1"/>
              <a:t>sentiment_label</a:t>
            </a:r>
            <a:endParaRPr lang="en-IN" sz="1400" dirty="0"/>
          </a:p>
        </p:txBody>
      </p:sp>
      <p:sp>
        <p:nvSpPr>
          <p:cNvPr id="8" name="TextBox 7">
            <a:extLst>
              <a:ext uri="{FF2B5EF4-FFF2-40B4-BE49-F238E27FC236}">
                <a16:creationId xmlns:a16="http://schemas.microsoft.com/office/drawing/2014/main" id="{7F36661A-61CB-0CA0-230B-56843D8C704C}"/>
              </a:ext>
            </a:extLst>
          </p:cNvPr>
          <p:cNvSpPr txBox="1"/>
          <p:nvPr/>
        </p:nvSpPr>
        <p:spPr>
          <a:xfrm>
            <a:off x="7374564" y="1232703"/>
            <a:ext cx="4977114" cy="5109091"/>
          </a:xfrm>
          <a:prstGeom prst="rect">
            <a:avLst/>
          </a:prstGeom>
          <a:noFill/>
        </p:spPr>
        <p:txBody>
          <a:bodyPr wrap="square" rtlCol="0">
            <a:spAutoFit/>
          </a:bodyPr>
          <a:lstStyle/>
          <a:p>
            <a:r>
              <a:rPr lang="en-US" dirty="0"/>
              <a:t>Meaning of each field</a:t>
            </a:r>
          </a:p>
          <a:p>
            <a:pPr marL="285750" indent="-285750">
              <a:buFont typeface="Arial" panose="020B0604020202020204" pitchFamily="34" charset="0"/>
              <a:buChar char="•"/>
            </a:pPr>
            <a:r>
              <a:rPr lang="en-US" sz="1400" dirty="0" err="1"/>
              <a:t>Product_name</a:t>
            </a:r>
            <a:r>
              <a:rPr lang="en-US" sz="1400" dirty="0"/>
              <a:t> - Name of the product</a:t>
            </a:r>
          </a:p>
          <a:p>
            <a:pPr marL="285750" indent="-285750">
              <a:buFont typeface="Arial" panose="020B0604020202020204" pitchFamily="34" charset="0"/>
              <a:buChar char="•"/>
            </a:pPr>
            <a:r>
              <a:rPr lang="en-US" sz="1400" dirty="0"/>
              <a:t>category - Each product is identified in different category like peripherals </a:t>
            </a:r>
          </a:p>
          <a:p>
            <a:pPr marL="285750" indent="-285750">
              <a:buFont typeface="Arial" panose="020B0604020202020204" pitchFamily="34" charset="0"/>
              <a:buChar char="•"/>
            </a:pPr>
            <a:r>
              <a:rPr lang="en-US" sz="1400" dirty="0" err="1"/>
              <a:t>sub_category</a:t>
            </a:r>
            <a:r>
              <a:rPr lang="en-US" sz="1400" dirty="0"/>
              <a:t> - Categories are further divided in sub categories</a:t>
            </a:r>
          </a:p>
          <a:p>
            <a:pPr marL="285750" indent="-285750">
              <a:buFont typeface="Arial" panose="020B0604020202020204" pitchFamily="34" charset="0"/>
              <a:buChar char="•"/>
            </a:pPr>
            <a:r>
              <a:rPr lang="en-US" sz="1400" dirty="0" err="1"/>
              <a:t>units_sold</a:t>
            </a:r>
            <a:r>
              <a:rPr lang="en-US" sz="1400" dirty="0"/>
              <a:t> - Sale volume</a:t>
            </a:r>
          </a:p>
          <a:p>
            <a:pPr marL="285750" indent="-285750">
              <a:buFont typeface="Arial" panose="020B0604020202020204" pitchFamily="34" charset="0"/>
              <a:buChar char="•"/>
            </a:pPr>
            <a:r>
              <a:rPr lang="en-US" sz="1400" dirty="0" err="1"/>
              <a:t>unit_price</a:t>
            </a:r>
            <a:r>
              <a:rPr lang="en-US" sz="1400" dirty="0"/>
              <a:t> - Unit price of each product</a:t>
            </a:r>
          </a:p>
          <a:p>
            <a:pPr marL="285750" indent="-285750">
              <a:buFont typeface="Arial" panose="020B0604020202020204" pitchFamily="34" charset="0"/>
              <a:buChar char="•"/>
            </a:pPr>
            <a:r>
              <a:rPr lang="en-US" sz="1400" dirty="0" err="1"/>
              <a:t>unit_cost</a:t>
            </a:r>
            <a:r>
              <a:rPr lang="en-US" sz="1400" dirty="0"/>
              <a:t> - Cost of production</a:t>
            </a:r>
          </a:p>
          <a:p>
            <a:pPr marL="285750" indent="-285750">
              <a:buFont typeface="Arial" panose="020B0604020202020204" pitchFamily="34" charset="0"/>
              <a:buChar char="•"/>
            </a:pPr>
            <a:r>
              <a:rPr lang="en-US" sz="1400" dirty="0"/>
              <a:t>revenue - Earnings from the product sales</a:t>
            </a:r>
          </a:p>
          <a:p>
            <a:pPr marL="285750" indent="-285750">
              <a:buFont typeface="Arial" panose="020B0604020202020204" pitchFamily="34" charset="0"/>
              <a:buChar char="•"/>
            </a:pPr>
            <a:r>
              <a:rPr lang="en-US" sz="1400" dirty="0"/>
              <a:t>margin - Margin in each of the sales</a:t>
            </a:r>
          </a:p>
          <a:p>
            <a:pPr marL="285750" indent="-285750">
              <a:buFont typeface="Arial" panose="020B0604020202020204" pitchFamily="34" charset="0"/>
              <a:buChar char="•"/>
            </a:pPr>
            <a:r>
              <a:rPr lang="en-US" sz="1400" dirty="0" err="1"/>
              <a:t>discount_pct</a:t>
            </a:r>
            <a:r>
              <a:rPr lang="en-US" sz="1400" dirty="0"/>
              <a:t> - Discount percentage</a:t>
            </a:r>
          </a:p>
          <a:p>
            <a:pPr marL="285750" indent="-285750">
              <a:buFont typeface="Arial" panose="020B0604020202020204" pitchFamily="34" charset="0"/>
              <a:buChar char="•"/>
            </a:pPr>
            <a:r>
              <a:rPr lang="en-US" sz="1400" dirty="0"/>
              <a:t>channel - Sale channel</a:t>
            </a:r>
          </a:p>
          <a:p>
            <a:pPr marL="285750" indent="-285750">
              <a:buFont typeface="Arial" panose="020B0604020202020204" pitchFamily="34" charset="0"/>
              <a:buChar char="•"/>
            </a:pPr>
            <a:r>
              <a:rPr lang="en-US" sz="1400" dirty="0"/>
              <a:t>Region - Sales Region</a:t>
            </a:r>
          </a:p>
          <a:p>
            <a:pPr marL="285750" indent="-285750">
              <a:buFont typeface="Arial" panose="020B0604020202020204" pitchFamily="34" charset="0"/>
              <a:buChar char="•"/>
            </a:pPr>
            <a:r>
              <a:rPr lang="en-US" sz="1400" dirty="0"/>
              <a:t>Country - Sales country</a:t>
            </a:r>
          </a:p>
          <a:p>
            <a:pPr marL="285750" indent="-285750">
              <a:buFont typeface="Arial" panose="020B0604020202020204" pitchFamily="34" charset="0"/>
              <a:buChar char="•"/>
            </a:pPr>
            <a:r>
              <a:rPr lang="en-US" sz="1400" dirty="0"/>
              <a:t>Customer segment - Customers are divided based on their segments</a:t>
            </a:r>
          </a:p>
          <a:p>
            <a:pPr marL="285750" indent="-285750">
              <a:buFont typeface="Arial" panose="020B0604020202020204" pitchFamily="34" charset="0"/>
              <a:buChar char="•"/>
            </a:pPr>
            <a:r>
              <a:rPr lang="en-US" sz="1400" dirty="0" err="1"/>
              <a:t>supplier_rating</a:t>
            </a:r>
            <a:r>
              <a:rPr lang="en-US" sz="1400" dirty="0"/>
              <a:t> - Ratings given by the customers</a:t>
            </a:r>
          </a:p>
          <a:p>
            <a:pPr marL="285750" indent="-285750">
              <a:buFont typeface="Arial" panose="020B0604020202020204" pitchFamily="34" charset="0"/>
              <a:buChar char="•"/>
            </a:pPr>
            <a:r>
              <a:rPr lang="en-US" sz="1400" dirty="0" err="1"/>
              <a:t>supplier_grade</a:t>
            </a:r>
            <a:r>
              <a:rPr lang="en-US" sz="1400" dirty="0"/>
              <a:t> - Supplier grade</a:t>
            </a:r>
          </a:p>
          <a:p>
            <a:pPr marL="285750" indent="-285750">
              <a:buFont typeface="Arial" panose="020B0604020202020204" pitchFamily="34" charset="0"/>
              <a:buChar char="•"/>
            </a:pPr>
            <a:r>
              <a:rPr lang="en-US" sz="1400" dirty="0" err="1"/>
              <a:t>inventory_units</a:t>
            </a:r>
            <a:r>
              <a:rPr lang="en-US" sz="1400" dirty="0"/>
              <a:t> - Product units in stock</a:t>
            </a:r>
          </a:p>
          <a:p>
            <a:pPr marL="285750" indent="-285750">
              <a:buFont typeface="Arial" panose="020B0604020202020204" pitchFamily="34" charset="0"/>
              <a:buChar char="•"/>
            </a:pPr>
            <a:r>
              <a:rPr lang="en-US" sz="1400" dirty="0" err="1"/>
              <a:t>review_text</a:t>
            </a:r>
            <a:r>
              <a:rPr lang="en-US" sz="1400" dirty="0"/>
              <a:t> - Review comments given by the customers</a:t>
            </a:r>
          </a:p>
          <a:p>
            <a:pPr marL="285750" indent="-285750">
              <a:buFont typeface="Arial" panose="020B0604020202020204" pitchFamily="34" charset="0"/>
              <a:buChar char="•"/>
            </a:pPr>
            <a:r>
              <a:rPr lang="en-US" sz="1400" dirty="0" err="1"/>
              <a:t>sentiment_level</a:t>
            </a:r>
            <a:r>
              <a:rPr lang="en-US" sz="1400" dirty="0"/>
              <a:t> - Customer's sentiment level</a:t>
            </a:r>
            <a:endParaRPr lang="en-IN" sz="1400" dirty="0"/>
          </a:p>
        </p:txBody>
      </p:sp>
      <p:pic>
        <p:nvPicPr>
          <p:cNvPr id="10" name="Picture 9">
            <a:extLst>
              <a:ext uri="{FF2B5EF4-FFF2-40B4-BE49-F238E27FC236}">
                <a16:creationId xmlns:a16="http://schemas.microsoft.com/office/drawing/2014/main" id="{F2843D9F-EC7A-BAC6-E7FE-6D20D1C586EC}"/>
              </a:ext>
            </a:extLst>
          </p:cNvPr>
          <p:cNvPicPr>
            <a:picLocks noChangeAspect="1"/>
          </p:cNvPicPr>
          <p:nvPr/>
        </p:nvPicPr>
        <p:blipFill>
          <a:blip r:embed="rId2"/>
          <a:stretch>
            <a:fillRect/>
          </a:stretch>
        </p:blipFill>
        <p:spPr>
          <a:xfrm>
            <a:off x="3376111" y="1737729"/>
            <a:ext cx="3238666" cy="3930852"/>
          </a:xfrm>
          <a:prstGeom prst="rect">
            <a:avLst/>
          </a:prstGeom>
        </p:spPr>
      </p:pic>
      <p:sp>
        <p:nvSpPr>
          <p:cNvPr id="11" name="TextBox 10">
            <a:extLst>
              <a:ext uri="{FF2B5EF4-FFF2-40B4-BE49-F238E27FC236}">
                <a16:creationId xmlns:a16="http://schemas.microsoft.com/office/drawing/2014/main" id="{EE4AB0A0-CCF5-80DB-4288-2CBA6886F049}"/>
              </a:ext>
            </a:extLst>
          </p:cNvPr>
          <p:cNvSpPr txBox="1"/>
          <p:nvPr/>
        </p:nvSpPr>
        <p:spPr>
          <a:xfrm>
            <a:off x="2943778" y="5958348"/>
            <a:ext cx="4372761" cy="646331"/>
          </a:xfrm>
          <a:prstGeom prst="rect">
            <a:avLst/>
          </a:prstGeom>
          <a:noFill/>
        </p:spPr>
        <p:txBody>
          <a:bodyPr wrap="square" rtlCol="0">
            <a:spAutoFit/>
          </a:bodyPr>
          <a:lstStyle/>
          <a:p>
            <a:pPr marL="285750" indent="-285750">
              <a:buFont typeface="Arial" panose="020B0604020202020204" pitchFamily="34" charset="0"/>
              <a:buChar char="•"/>
            </a:pPr>
            <a:r>
              <a:rPr lang="en-US" dirty="0"/>
              <a:t>Missing values in 8 features like </a:t>
            </a:r>
            <a:r>
              <a:rPr lang="en-US" dirty="0" err="1"/>
              <a:t>unit_cost</a:t>
            </a:r>
            <a:r>
              <a:rPr lang="en-US" dirty="0"/>
              <a:t>, </a:t>
            </a:r>
            <a:r>
              <a:rPr lang="en-US" dirty="0" err="1"/>
              <a:t>unit_cost</a:t>
            </a:r>
            <a:r>
              <a:rPr lang="en-US" dirty="0"/>
              <a:t>, country </a:t>
            </a:r>
            <a:r>
              <a:rPr lang="en-US" dirty="0" err="1"/>
              <a:t>etc</a:t>
            </a:r>
            <a:endParaRPr lang="en-IN" dirty="0"/>
          </a:p>
        </p:txBody>
      </p:sp>
    </p:spTree>
    <p:extLst>
      <p:ext uri="{BB962C8B-B14F-4D97-AF65-F5344CB8AC3E}">
        <p14:creationId xmlns:p14="http://schemas.microsoft.com/office/powerpoint/2010/main" val="1337295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cleaning</a:t>
            </a:r>
            <a:endParaRPr lang="en-IN" dirty="0"/>
          </a:p>
        </p:txBody>
      </p:sp>
      <p:sp>
        <p:nvSpPr>
          <p:cNvPr id="3" name="Content Placeholder 2"/>
          <p:cNvSpPr>
            <a:spLocks noGrp="1"/>
          </p:cNvSpPr>
          <p:nvPr>
            <p:ph idx="1"/>
          </p:nvPr>
        </p:nvSpPr>
        <p:spPr/>
        <p:txBody>
          <a:bodyPr/>
          <a:lstStyle/>
          <a:p>
            <a:r>
              <a:rPr lang="en-IN" dirty="0"/>
              <a:t>Handling Missing Values : Since outliers are present in most of the columns, we’ll go with median for imputation </a:t>
            </a:r>
          </a:p>
          <a:p>
            <a:r>
              <a:rPr lang="en-US" dirty="0" err="1"/>
              <a:t>Unit_cost</a:t>
            </a:r>
            <a:r>
              <a:rPr lang="en-US" dirty="0"/>
              <a:t> is an exception where we’ll use category-wise mean </a:t>
            </a:r>
          </a:p>
          <a:p>
            <a:pPr marL="0" indent="0">
              <a:buNone/>
            </a:pPr>
            <a:endParaRPr lang="en-US" dirty="0"/>
          </a:p>
          <a:p>
            <a:pPr marL="0" indent="0">
              <a:buNone/>
            </a:pPr>
            <a:endParaRPr lang="en-US" dirty="0"/>
          </a:p>
        </p:txBody>
      </p:sp>
      <p:sp>
        <p:nvSpPr>
          <p:cNvPr id="4" name="TextBox 3"/>
          <p:cNvSpPr txBox="1"/>
          <p:nvPr/>
        </p:nvSpPr>
        <p:spPr>
          <a:xfrm>
            <a:off x="1342015" y="3539082"/>
            <a:ext cx="3046940" cy="2585323"/>
          </a:xfrm>
          <a:prstGeom prst="rect">
            <a:avLst/>
          </a:prstGeom>
          <a:noFill/>
        </p:spPr>
        <p:txBody>
          <a:bodyPr wrap="square" rtlCol="0">
            <a:spAutoFit/>
          </a:bodyPr>
          <a:lstStyle/>
          <a:p>
            <a:r>
              <a:rPr lang="en-US" dirty="0"/>
              <a:t>Replacing missing values with Median</a:t>
            </a:r>
          </a:p>
          <a:p>
            <a:r>
              <a:rPr lang="en-US" dirty="0" err="1"/>
              <a:t>Eg</a:t>
            </a:r>
            <a:r>
              <a:rPr lang="en-US" dirty="0"/>
              <a:t>: Plotted a graph for Revenue </a:t>
            </a:r>
          </a:p>
          <a:p>
            <a:r>
              <a:rPr lang="en-US" dirty="0"/>
              <a:t>which is been replaced by median </a:t>
            </a:r>
          </a:p>
          <a:p>
            <a:endParaRPr lang="en-US" dirty="0"/>
          </a:p>
          <a:p>
            <a:endParaRPr lang="en-US" dirty="0"/>
          </a:p>
          <a:p>
            <a:endParaRPr lang="en-IN" dirty="0"/>
          </a:p>
        </p:txBody>
      </p:sp>
      <p:pic>
        <p:nvPicPr>
          <p:cNvPr id="5" name="Picture 4"/>
          <p:cNvPicPr>
            <a:picLocks noChangeAspect="1"/>
          </p:cNvPicPr>
          <p:nvPr/>
        </p:nvPicPr>
        <p:blipFill>
          <a:blip r:embed="rId2"/>
          <a:stretch>
            <a:fillRect/>
          </a:stretch>
        </p:blipFill>
        <p:spPr>
          <a:xfrm>
            <a:off x="4388955" y="3354815"/>
            <a:ext cx="3193573" cy="2130552"/>
          </a:xfrm>
          <a:prstGeom prst="rect">
            <a:avLst/>
          </a:prstGeom>
        </p:spPr>
      </p:pic>
      <p:pic>
        <p:nvPicPr>
          <p:cNvPr id="6" name="Picture 5"/>
          <p:cNvPicPr>
            <a:picLocks noChangeAspect="1"/>
          </p:cNvPicPr>
          <p:nvPr/>
        </p:nvPicPr>
        <p:blipFill>
          <a:blip r:embed="rId3"/>
          <a:stretch>
            <a:fillRect/>
          </a:stretch>
        </p:blipFill>
        <p:spPr>
          <a:xfrm>
            <a:off x="7936992" y="3354815"/>
            <a:ext cx="3419856" cy="2212270"/>
          </a:xfrm>
          <a:prstGeom prst="rect">
            <a:avLst/>
          </a:prstGeom>
        </p:spPr>
      </p:pic>
    </p:spTree>
    <p:extLst>
      <p:ext uri="{BB962C8B-B14F-4D97-AF65-F5344CB8AC3E}">
        <p14:creationId xmlns:p14="http://schemas.microsoft.com/office/powerpoint/2010/main" val="29555547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130" y="480150"/>
            <a:ext cx="9404723" cy="1400530"/>
          </a:xfrm>
        </p:spPr>
        <p:txBody>
          <a:bodyPr/>
          <a:lstStyle/>
          <a:p>
            <a:r>
              <a:rPr lang="en-US" dirty="0"/>
              <a:t>Insights about the Numerical Data</a:t>
            </a:r>
          </a:p>
        </p:txBody>
      </p:sp>
      <p:sp>
        <p:nvSpPr>
          <p:cNvPr id="3" name="Content Placeholder 2"/>
          <p:cNvSpPr>
            <a:spLocks noGrp="1"/>
          </p:cNvSpPr>
          <p:nvPr>
            <p:ph idx="1"/>
          </p:nvPr>
        </p:nvSpPr>
        <p:spPr>
          <a:xfrm>
            <a:off x="16539" y="1409015"/>
            <a:ext cx="6329397" cy="5138089"/>
          </a:xfrm>
        </p:spPr>
        <p:txBody>
          <a:bodyPr>
            <a:normAutofit fontScale="92500" lnSpcReduction="10000"/>
          </a:bodyPr>
          <a:lstStyle/>
          <a:p>
            <a:pPr>
              <a:buFont typeface="Wingdings" panose="05000000000000000000" pitchFamily="2" charset="2"/>
              <a:buChar char="Ø"/>
            </a:pPr>
            <a:r>
              <a:rPr lang="en-US" dirty="0"/>
              <a:t>Unit sold has nearly uniform distribution</a:t>
            </a:r>
          </a:p>
          <a:p>
            <a:pPr>
              <a:buFont typeface="Wingdings" panose="05000000000000000000" pitchFamily="2" charset="2"/>
              <a:buChar char="Ø"/>
            </a:pPr>
            <a:r>
              <a:rPr lang="en-US" dirty="0"/>
              <a:t>Unit price is a right skewed</a:t>
            </a:r>
          </a:p>
          <a:p>
            <a:pPr>
              <a:buFont typeface="Wingdings" panose="05000000000000000000" pitchFamily="2" charset="2"/>
              <a:buChar char="Ø"/>
            </a:pPr>
            <a:r>
              <a:rPr lang="en-US" dirty="0"/>
              <a:t>Unit cost is a right skewed</a:t>
            </a:r>
          </a:p>
          <a:p>
            <a:pPr>
              <a:buFont typeface="Wingdings" panose="05000000000000000000" pitchFamily="2" charset="2"/>
              <a:buChar char="Ø"/>
            </a:pPr>
            <a:r>
              <a:rPr lang="en-US" dirty="0"/>
              <a:t>Revenue is strongly right‑skewed, indicating that while most SKUs generate revenue in the lower ranges, a small proportion of high‑priced or high‑volume items contribute disproportionately to total sales.</a:t>
            </a:r>
          </a:p>
          <a:p>
            <a:pPr>
              <a:buFont typeface="Wingdings" panose="05000000000000000000" pitchFamily="2" charset="2"/>
              <a:buChar char="Ø"/>
            </a:pPr>
            <a:r>
              <a:rPr lang="en-US" dirty="0"/>
              <a:t>Margin is strongly right‑skewed, indicating that while most SKUs has lower margin, only a small proportion of the products has higher margins</a:t>
            </a:r>
          </a:p>
          <a:p>
            <a:pPr>
              <a:buFont typeface="Wingdings" panose="05000000000000000000" pitchFamily="2" charset="2"/>
              <a:buChar char="Ø"/>
            </a:pPr>
            <a:r>
              <a:rPr lang="en-US" dirty="0"/>
              <a:t>Discount percent is a multi model feature</a:t>
            </a:r>
          </a:p>
          <a:p>
            <a:pPr>
              <a:buFont typeface="Wingdings" panose="05000000000000000000" pitchFamily="2" charset="2"/>
              <a:buChar char="Ø"/>
            </a:pPr>
            <a:r>
              <a:rPr lang="en-US" dirty="0"/>
              <a:t>Supplier rating is left skewed and multi model </a:t>
            </a:r>
            <a:r>
              <a:rPr lang="en-US" dirty="0" err="1"/>
              <a:t>featureInventory</a:t>
            </a:r>
            <a:r>
              <a:rPr lang="en-US" dirty="0"/>
              <a:t> units is </a:t>
            </a:r>
            <a:r>
              <a:rPr lang="en-US" dirty="0" err="1"/>
              <a:t>equially</a:t>
            </a:r>
            <a:r>
              <a:rPr lang="en-US" dirty="0"/>
              <a:t> distributed feature</a:t>
            </a:r>
            <a:endParaRPr lang="en-IN" dirty="0"/>
          </a:p>
        </p:txBody>
      </p:sp>
      <p:pic>
        <p:nvPicPr>
          <p:cNvPr id="6" name="Picture 5"/>
          <p:cNvPicPr>
            <a:picLocks noChangeAspect="1"/>
          </p:cNvPicPr>
          <p:nvPr/>
        </p:nvPicPr>
        <p:blipFill>
          <a:blip r:embed="rId2"/>
          <a:stretch>
            <a:fillRect/>
          </a:stretch>
        </p:blipFill>
        <p:spPr>
          <a:xfrm>
            <a:off x="6190488" y="1409015"/>
            <a:ext cx="5559552" cy="3190417"/>
          </a:xfrm>
          <a:prstGeom prst="rect">
            <a:avLst/>
          </a:prstGeom>
        </p:spPr>
      </p:pic>
    </p:spTree>
    <p:extLst>
      <p:ext uri="{BB962C8B-B14F-4D97-AF65-F5344CB8AC3E}">
        <p14:creationId xmlns:p14="http://schemas.microsoft.com/office/powerpoint/2010/main" val="4176164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Corelation</a:t>
            </a:r>
            <a:r>
              <a:rPr lang="en-US" dirty="0"/>
              <a:t> </a:t>
            </a:r>
            <a:r>
              <a:rPr lang="en-US" dirty="0" err="1"/>
              <a:t>Heatmap</a:t>
            </a:r>
            <a:endParaRPr lang="en-IN" dirty="0"/>
          </a:p>
        </p:txBody>
      </p:sp>
      <p:sp>
        <p:nvSpPr>
          <p:cNvPr id="3" name="Content Placeholder 2"/>
          <p:cNvSpPr>
            <a:spLocks noGrp="1"/>
          </p:cNvSpPr>
          <p:nvPr>
            <p:ph idx="1"/>
          </p:nvPr>
        </p:nvSpPr>
        <p:spPr>
          <a:xfrm>
            <a:off x="435800" y="1403694"/>
            <a:ext cx="11167936" cy="5207418"/>
          </a:xfrm>
        </p:spPr>
        <p:txBody>
          <a:bodyPr/>
          <a:lstStyle/>
          <a:p>
            <a:r>
              <a:rPr lang="en-US" dirty="0"/>
              <a:t>Top 3 features that are strongly correlated (Considering from 0.7 to 1)</a:t>
            </a:r>
          </a:p>
          <a:p>
            <a:pPr marL="0" indent="0">
              <a:buNone/>
            </a:pPr>
            <a:r>
              <a:rPr lang="en-US" dirty="0"/>
              <a:t>Unit price </a:t>
            </a:r>
            <a:r>
              <a:rPr lang="en-US" dirty="0">
                <a:sym typeface="Wingdings" panose="05000000000000000000" pitchFamily="2" charset="2"/>
              </a:rPr>
              <a:t></a:t>
            </a:r>
            <a:r>
              <a:rPr lang="en-US" dirty="0"/>
              <a:t>unit cost = 0.94(Strong)</a:t>
            </a:r>
          </a:p>
          <a:p>
            <a:pPr marL="0" indent="0">
              <a:buNone/>
            </a:pPr>
            <a:r>
              <a:rPr lang="en-US" dirty="0"/>
              <a:t>Unit price </a:t>
            </a:r>
            <a:r>
              <a:rPr lang="en-US" dirty="0">
                <a:sym typeface="Wingdings" panose="05000000000000000000" pitchFamily="2" charset="2"/>
              </a:rPr>
              <a:t></a:t>
            </a:r>
            <a:r>
              <a:rPr lang="en-US" dirty="0"/>
              <a:t> revenue = 0.9</a:t>
            </a:r>
          </a:p>
          <a:p>
            <a:pPr marL="0" indent="0">
              <a:buNone/>
            </a:pPr>
            <a:r>
              <a:rPr lang="en-US" dirty="0"/>
              <a:t>unit cost  </a:t>
            </a:r>
            <a:r>
              <a:rPr lang="en-US" dirty="0">
                <a:sym typeface="Wingdings" panose="05000000000000000000" pitchFamily="2" charset="2"/>
              </a:rPr>
              <a:t></a:t>
            </a:r>
            <a:r>
              <a:rPr lang="en-US" dirty="0"/>
              <a:t> revenue = 0.85</a:t>
            </a:r>
          </a:p>
          <a:p>
            <a:pPr marL="0" indent="0">
              <a:buNone/>
            </a:pPr>
            <a:r>
              <a:rPr lang="en-US" dirty="0"/>
              <a:t>margin </a:t>
            </a:r>
            <a:r>
              <a:rPr lang="en-US" dirty="0">
                <a:sym typeface="Wingdings" panose="05000000000000000000" pitchFamily="2" charset="2"/>
              </a:rPr>
              <a:t></a:t>
            </a:r>
            <a:r>
              <a:rPr lang="en-US" dirty="0"/>
              <a:t> revenue = 0.77</a:t>
            </a:r>
          </a:p>
          <a:p>
            <a:pPr marL="0" indent="0">
              <a:buNone/>
            </a:pPr>
            <a:r>
              <a:rPr lang="en-US" dirty="0"/>
              <a:t>Unit price </a:t>
            </a:r>
            <a:r>
              <a:rPr lang="en-US" dirty="0">
                <a:sym typeface="Wingdings" panose="05000000000000000000" pitchFamily="2" charset="2"/>
              </a:rPr>
              <a:t></a:t>
            </a:r>
            <a:r>
              <a:rPr lang="en-US" dirty="0"/>
              <a:t>  margin = 0.7 (Low)</a:t>
            </a:r>
          </a:p>
          <a:p>
            <a:pPr marL="0" indent="0">
              <a:buNone/>
            </a:pPr>
            <a:endParaRPr lang="en-IN" dirty="0"/>
          </a:p>
        </p:txBody>
      </p:sp>
      <p:pic>
        <p:nvPicPr>
          <p:cNvPr id="12" name="Picture 11"/>
          <p:cNvPicPr>
            <a:picLocks noChangeAspect="1"/>
          </p:cNvPicPr>
          <p:nvPr/>
        </p:nvPicPr>
        <p:blipFill>
          <a:blip r:embed="rId2"/>
          <a:stretch>
            <a:fillRect/>
          </a:stretch>
        </p:blipFill>
        <p:spPr>
          <a:xfrm>
            <a:off x="5724144" y="2130552"/>
            <a:ext cx="5029199" cy="3831336"/>
          </a:xfrm>
          <a:prstGeom prst="rect">
            <a:avLst/>
          </a:prstGeom>
        </p:spPr>
      </p:pic>
    </p:spTree>
    <p:extLst>
      <p:ext uri="{BB962C8B-B14F-4D97-AF65-F5344CB8AC3E}">
        <p14:creationId xmlns:p14="http://schemas.microsoft.com/office/powerpoint/2010/main" val="2795932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 for Categorical Data</a:t>
            </a:r>
            <a:endParaRPr lang="en-IN" dirty="0"/>
          </a:p>
        </p:txBody>
      </p:sp>
      <p:sp>
        <p:nvSpPr>
          <p:cNvPr id="3" name="Content Placeholder 2"/>
          <p:cNvSpPr>
            <a:spLocks noGrp="1"/>
          </p:cNvSpPr>
          <p:nvPr>
            <p:ph idx="1"/>
          </p:nvPr>
        </p:nvSpPr>
        <p:spPr/>
        <p:txBody>
          <a:bodyPr/>
          <a:lstStyle/>
          <a:p>
            <a:r>
              <a:rPr lang="en-US" dirty="0"/>
              <a:t>Pivot tables help us in analyzing categorical data</a:t>
            </a:r>
          </a:p>
          <a:p>
            <a:r>
              <a:rPr lang="en-US" dirty="0"/>
              <a:t>Comparing average revenue with combinations of category and channel.</a:t>
            </a:r>
          </a:p>
          <a:p>
            <a:r>
              <a:rPr lang="en-US" dirty="0"/>
              <a:t>Comparing average margin with region and </a:t>
            </a:r>
            <a:r>
              <a:rPr lang="en-US" dirty="0" err="1"/>
              <a:t>customer_segment</a:t>
            </a:r>
            <a:r>
              <a:rPr lang="en-US" dirty="0"/>
              <a:t>.</a:t>
            </a:r>
            <a:endParaRPr lang="en-IN" dirty="0"/>
          </a:p>
        </p:txBody>
      </p:sp>
      <p:pic>
        <p:nvPicPr>
          <p:cNvPr id="4" name="Picture 3"/>
          <p:cNvPicPr>
            <a:picLocks noChangeAspect="1"/>
          </p:cNvPicPr>
          <p:nvPr/>
        </p:nvPicPr>
        <p:blipFill>
          <a:blip r:embed="rId2"/>
          <a:stretch>
            <a:fillRect/>
          </a:stretch>
        </p:blipFill>
        <p:spPr>
          <a:xfrm>
            <a:off x="2295537" y="3759733"/>
            <a:ext cx="4992232" cy="2488666"/>
          </a:xfrm>
          <a:prstGeom prst="rect">
            <a:avLst/>
          </a:prstGeom>
        </p:spPr>
      </p:pic>
    </p:spTree>
    <p:extLst>
      <p:ext uri="{BB962C8B-B14F-4D97-AF65-F5344CB8AC3E}">
        <p14:creationId xmlns:p14="http://schemas.microsoft.com/office/powerpoint/2010/main" val="4075843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 Comprehension</a:t>
            </a:r>
            <a:endParaRPr lang="en-IN" dirty="0"/>
          </a:p>
        </p:txBody>
      </p:sp>
      <p:sp>
        <p:nvSpPr>
          <p:cNvPr id="3" name="Content Placeholder 2"/>
          <p:cNvSpPr>
            <a:spLocks noGrp="1"/>
          </p:cNvSpPr>
          <p:nvPr>
            <p:ph idx="1"/>
          </p:nvPr>
        </p:nvSpPr>
        <p:spPr/>
        <p:txBody>
          <a:bodyPr/>
          <a:lstStyle/>
          <a:p>
            <a:r>
              <a:rPr lang="en-US" dirty="0"/>
              <a:t>Used to generate list of columns that has missing values</a:t>
            </a:r>
          </a:p>
          <a:p>
            <a:endParaRPr lang="en-IN" dirty="0"/>
          </a:p>
        </p:txBody>
      </p:sp>
      <p:pic>
        <p:nvPicPr>
          <p:cNvPr id="4" name="Picture 3"/>
          <p:cNvPicPr>
            <a:picLocks noChangeAspect="1"/>
          </p:cNvPicPr>
          <p:nvPr/>
        </p:nvPicPr>
        <p:blipFill>
          <a:blip r:embed="rId2"/>
          <a:stretch>
            <a:fillRect/>
          </a:stretch>
        </p:blipFill>
        <p:spPr>
          <a:xfrm>
            <a:off x="990779" y="2634921"/>
            <a:ext cx="8345065" cy="3801005"/>
          </a:xfrm>
          <a:prstGeom prst="rect">
            <a:avLst/>
          </a:prstGeom>
        </p:spPr>
      </p:pic>
    </p:spTree>
    <p:extLst>
      <p:ext uri="{BB962C8B-B14F-4D97-AF65-F5344CB8AC3E}">
        <p14:creationId xmlns:p14="http://schemas.microsoft.com/office/powerpoint/2010/main" val="3825663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Lamda</a:t>
            </a:r>
            <a:r>
              <a:rPr lang="en-US" dirty="0"/>
              <a:t> Function – User defined</a:t>
            </a:r>
            <a:endParaRPr lang="en-IN" dirty="0"/>
          </a:p>
        </p:txBody>
      </p:sp>
      <p:sp>
        <p:nvSpPr>
          <p:cNvPr id="3" name="Content Placeholder 2"/>
          <p:cNvSpPr>
            <a:spLocks noGrp="1"/>
          </p:cNvSpPr>
          <p:nvPr>
            <p:ph idx="1"/>
          </p:nvPr>
        </p:nvSpPr>
        <p:spPr>
          <a:xfrm>
            <a:off x="875201" y="1504278"/>
            <a:ext cx="8946541" cy="4195481"/>
          </a:xfrm>
        </p:spPr>
        <p:txBody>
          <a:bodyPr/>
          <a:lstStyle/>
          <a:p>
            <a:r>
              <a:rPr lang="en-US" dirty="0"/>
              <a:t>This function is used to classify categorical data as Low Margin, Medium Margin and High Margin</a:t>
            </a:r>
          </a:p>
          <a:p>
            <a:endParaRPr lang="en-IN" dirty="0"/>
          </a:p>
        </p:txBody>
      </p:sp>
      <p:pic>
        <p:nvPicPr>
          <p:cNvPr id="4" name="Picture 3"/>
          <p:cNvPicPr>
            <a:picLocks noChangeAspect="1"/>
          </p:cNvPicPr>
          <p:nvPr/>
        </p:nvPicPr>
        <p:blipFill>
          <a:blip r:embed="rId2"/>
          <a:stretch>
            <a:fillRect/>
          </a:stretch>
        </p:blipFill>
        <p:spPr>
          <a:xfrm>
            <a:off x="1505713" y="2419814"/>
            <a:ext cx="5681472" cy="3510261"/>
          </a:xfrm>
          <a:prstGeom prst="rect">
            <a:avLst/>
          </a:prstGeom>
        </p:spPr>
      </p:pic>
    </p:spTree>
    <p:extLst>
      <p:ext uri="{BB962C8B-B14F-4D97-AF65-F5344CB8AC3E}">
        <p14:creationId xmlns:p14="http://schemas.microsoft.com/office/powerpoint/2010/main" val="593709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169" y="64973"/>
            <a:ext cx="9404723" cy="785766"/>
          </a:xfrm>
        </p:spPr>
        <p:txBody>
          <a:bodyPr/>
          <a:lstStyle/>
          <a:p>
            <a:r>
              <a:rPr lang="en-US" dirty="0"/>
              <a:t>Insights after Analysis </a:t>
            </a:r>
            <a:endParaRPr lang="en-IN" dirty="0"/>
          </a:p>
        </p:txBody>
      </p:sp>
      <p:sp>
        <p:nvSpPr>
          <p:cNvPr id="6" name="TextBox 5">
            <a:extLst>
              <a:ext uri="{FF2B5EF4-FFF2-40B4-BE49-F238E27FC236}">
                <a16:creationId xmlns:a16="http://schemas.microsoft.com/office/drawing/2014/main" id="{C3E4B36D-869A-03C4-B3CB-F9EC24625F6A}"/>
              </a:ext>
            </a:extLst>
          </p:cNvPr>
          <p:cNvSpPr txBox="1"/>
          <p:nvPr/>
        </p:nvSpPr>
        <p:spPr>
          <a:xfrm>
            <a:off x="775504" y="1354238"/>
            <a:ext cx="10561899" cy="3970318"/>
          </a:xfrm>
          <a:prstGeom prst="rect">
            <a:avLst/>
          </a:prstGeom>
          <a:noFill/>
        </p:spPr>
        <p:txBody>
          <a:bodyPr wrap="square" rtlCol="0">
            <a:spAutoFit/>
          </a:bodyPr>
          <a:lstStyle/>
          <a:p>
            <a:endParaRPr lang="en-US"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
        <p:nvSpPr>
          <p:cNvPr id="9" name="TextBox 8">
            <a:extLst>
              <a:ext uri="{FF2B5EF4-FFF2-40B4-BE49-F238E27FC236}">
                <a16:creationId xmlns:a16="http://schemas.microsoft.com/office/drawing/2014/main" id="{2CCA1C74-B409-F985-7C91-DDF193E56865}"/>
              </a:ext>
            </a:extLst>
          </p:cNvPr>
          <p:cNvSpPr txBox="1"/>
          <p:nvPr/>
        </p:nvSpPr>
        <p:spPr>
          <a:xfrm>
            <a:off x="254643" y="850739"/>
            <a:ext cx="10988233" cy="5632311"/>
          </a:xfrm>
          <a:prstGeom prst="rect">
            <a:avLst/>
          </a:prstGeom>
          <a:noFill/>
        </p:spPr>
        <p:txBody>
          <a:bodyPr wrap="square" rtlCol="0">
            <a:spAutoFit/>
          </a:bodyPr>
          <a:lstStyle/>
          <a:p>
            <a:pPr marL="285750" indent="-285750">
              <a:buFont typeface="Arial" panose="020B0604020202020204" pitchFamily="34" charset="0"/>
              <a:buChar char="•"/>
            </a:pPr>
            <a:r>
              <a:rPr lang="en-US" b="1" dirty="0"/>
              <a:t>The dataset:</a:t>
            </a:r>
            <a:r>
              <a:rPr lang="en-US" dirty="0"/>
              <a:t> Around 3,000 product transactions spread across 19 columns — SKUs, pricing, margins, channels, regions, customer sentiment, the works. We cleaned things up by imputing missing values (median for the skewed numerical stuff, category-wise mean for </a:t>
            </a:r>
            <a:r>
              <a:rPr lang="en-US" dirty="0" err="1"/>
              <a:t>unit_cost</a:t>
            </a:r>
            <a:r>
              <a:rPr lang="en-US" dirty="0"/>
              <a:t> so we don't mess up margin calculations, and a "Missing" placeholder for </a:t>
            </a:r>
            <a:r>
              <a:rPr lang="en-US" dirty="0" err="1"/>
              <a:t>categoricals</a:t>
            </a:r>
            <a:r>
              <a:rPr lang="en-US" dirty="0"/>
              <a:t>). The </a:t>
            </a:r>
            <a:r>
              <a:rPr lang="en-US" dirty="0" err="1"/>
              <a:t>review_text</a:t>
            </a:r>
            <a:r>
              <a:rPr lang="en-US" dirty="0"/>
              <a:t> column was 40% empty and not useful for numerical EDA anyway, so we dropped it. Zero duplicates — nice.</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US" b="1" dirty="0"/>
              <a:t>Correlations:</a:t>
            </a:r>
            <a:r>
              <a:rPr lang="en-US" dirty="0"/>
              <a:t> Unit price, unit cost, and margin are the real drivers of revenue — strong positive correlations across the board. What's interesting is that discount percentage barely moves the needle on revenue. So just slapping discounts on everything? Probably not the best play.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Categories &amp; Regions:</a:t>
            </a:r>
            <a:r>
              <a:rPr lang="en-US" dirty="0"/>
              <a:t> Revenue is far from evenly distributed. Some categories and regions clearly dominate, and the Category × Sub-Category heatmap made it easy to spot exactly which product niches are the money-makers. That's basically the cheat sheet for where to double down on inventory and marketing.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Country-Level Profitability:</a:t>
            </a:r>
            <a:r>
              <a:rPr lang="en-US" dirty="0"/>
              <a:t> Australia came out on top for total margin, with India, Brazil, and Japan not far behind. Germany and Canada are at the bottom — could be heavier discounting, lower pricing, or higher production costs. Would need to dig deeper to figure out exactly why.</a:t>
            </a:r>
            <a:endParaRPr lang="en-IN" dirty="0"/>
          </a:p>
        </p:txBody>
      </p:sp>
    </p:spTree>
    <p:extLst>
      <p:ext uri="{BB962C8B-B14F-4D97-AF65-F5344CB8AC3E}">
        <p14:creationId xmlns:p14="http://schemas.microsoft.com/office/powerpoint/2010/main" val="26094222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99260-5FA7-9320-D123-6A55965641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1C320B-79F9-8C00-FFF5-CA4F9F5E7F8B}"/>
              </a:ext>
            </a:extLst>
          </p:cNvPr>
          <p:cNvSpPr>
            <a:spLocks noGrp="1"/>
          </p:cNvSpPr>
          <p:nvPr>
            <p:ph type="title"/>
          </p:nvPr>
        </p:nvSpPr>
        <p:spPr>
          <a:xfrm>
            <a:off x="345169" y="64973"/>
            <a:ext cx="9404723" cy="785766"/>
          </a:xfrm>
        </p:spPr>
        <p:txBody>
          <a:bodyPr/>
          <a:lstStyle/>
          <a:p>
            <a:r>
              <a:rPr lang="en-US" dirty="0"/>
              <a:t>Insights after Analysis </a:t>
            </a:r>
            <a:endParaRPr lang="en-IN" dirty="0"/>
          </a:p>
        </p:txBody>
      </p:sp>
      <p:sp>
        <p:nvSpPr>
          <p:cNvPr id="6" name="TextBox 5">
            <a:extLst>
              <a:ext uri="{FF2B5EF4-FFF2-40B4-BE49-F238E27FC236}">
                <a16:creationId xmlns:a16="http://schemas.microsoft.com/office/drawing/2014/main" id="{B79429DC-2FEF-43B5-1C1A-BC090EFEF4CB}"/>
              </a:ext>
            </a:extLst>
          </p:cNvPr>
          <p:cNvSpPr txBox="1"/>
          <p:nvPr/>
        </p:nvSpPr>
        <p:spPr>
          <a:xfrm>
            <a:off x="775504" y="1354238"/>
            <a:ext cx="10561899" cy="3970318"/>
          </a:xfrm>
          <a:prstGeom prst="rect">
            <a:avLst/>
          </a:prstGeom>
          <a:noFill/>
        </p:spPr>
        <p:txBody>
          <a:bodyPr wrap="square" rtlCol="0">
            <a:spAutoFit/>
          </a:bodyPr>
          <a:lstStyle/>
          <a:p>
            <a:endParaRPr lang="en-US"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
        <p:nvSpPr>
          <p:cNvPr id="9" name="TextBox 8">
            <a:extLst>
              <a:ext uri="{FF2B5EF4-FFF2-40B4-BE49-F238E27FC236}">
                <a16:creationId xmlns:a16="http://schemas.microsoft.com/office/drawing/2014/main" id="{ACB2A8AD-5ACA-D22C-5923-31721351279D}"/>
              </a:ext>
            </a:extLst>
          </p:cNvPr>
          <p:cNvSpPr txBox="1"/>
          <p:nvPr/>
        </p:nvSpPr>
        <p:spPr>
          <a:xfrm>
            <a:off x="254643" y="850739"/>
            <a:ext cx="10988233" cy="6186309"/>
          </a:xfrm>
          <a:prstGeom prst="rect">
            <a:avLst/>
          </a:prstGeom>
          <a:noFill/>
        </p:spPr>
        <p:txBody>
          <a:bodyPr wrap="square" rtlCol="0">
            <a:spAutoFit/>
          </a:bodyPr>
          <a:lstStyle/>
          <a:p>
            <a:pPr marL="285750" indent="-285750">
              <a:buFont typeface="Arial" panose="020B0604020202020204" pitchFamily="34" charset="0"/>
              <a:buChar char="•"/>
            </a:pPr>
            <a:r>
              <a:rPr lang="en-US" b="1" dirty="0"/>
              <a:t>Suppliers:</a:t>
            </a:r>
            <a:r>
              <a:rPr lang="en-US" dirty="0"/>
              <a:t> Pretty balanced across grades A, B, and C — Grade B is slightly more common, but no single grade dominates. Supplier ratings cluster tightly around 4.0, and they don't really correlate with financial performance. Good suppliers don't automatically mean better sales, apparently.</a:t>
            </a:r>
          </a:p>
          <a:p>
            <a:pPr marL="285750" indent="-285750">
              <a:buFont typeface="Arial" panose="020B0604020202020204" pitchFamily="34" charset="0"/>
              <a:buChar char="•"/>
            </a:pPr>
            <a:r>
              <a:rPr lang="en-US" b="1" dirty="0"/>
              <a:t>Profitability Classification:</a:t>
            </a:r>
            <a:r>
              <a:rPr lang="en-US" dirty="0"/>
              <a:t> We built a simple classifier using quantile-based revenue and margin bands, and it split products into five buckets. Stable Performers are the biggest group — they keep the lights on. High Profit Performers are the ones to invest in. Revenue Drivers with Low Margin could use some cost optimization. Premium Niche Performers have untapped potential if we can get them more visibility. And Poor Performers? Time to rethink or phase them out.</a:t>
            </a:r>
          </a:p>
          <a:p>
            <a:pPr marL="285750" indent="-285750">
              <a:buFont typeface="Arial" panose="020B0604020202020204" pitchFamily="34" charset="0"/>
              <a:buChar char="•"/>
            </a:pPr>
            <a:r>
              <a:rPr lang="en-US" b="1" dirty="0"/>
              <a:t>Sentiment:</a:t>
            </a:r>
            <a:r>
              <a:rPr lang="en-US" dirty="0"/>
              <a:t> The crosstab showed that sentiment is spread pretty evenly across categories — so it's not like one product type is getting all the bad reviews. Customer sentiment seems to be more about the individual experience (pricing, delivery, quality) than about what category they bought from.</a:t>
            </a:r>
          </a:p>
          <a:p>
            <a:pPr marL="285750" indent="-285750">
              <a:buFont typeface="Arial" panose="020B0604020202020204" pitchFamily="34" charset="0"/>
              <a:buChar char="•"/>
            </a:pPr>
            <a:endParaRPr lang="en-US" dirty="0"/>
          </a:p>
          <a:p>
            <a:r>
              <a:rPr lang="en-US" b="1" dirty="0"/>
              <a:t>Things we'd explore with more time / data:</a:t>
            </a:r>
            <a:endParaRPr lang="en-US" dirty="0"/>
          </a:p>
          <a:p>
            <a:pPr marL="285750" indent="-285750">
              <a:buFont typeface="Arial" panose="020B0604020202020204" pitchFamily="34" charset="0"/>
              <a:buChar char="•"/>
            </a:pPr>
            <a:r>
              <a:rPr lang="en-US" dirty="0"/>
              <a:t>Time-series trends — if we had date columns, we could spot seasonality and growth patterns</a:t>
            </a:r>
          </a:p>
          <a:p>
            <a:pPr marL="285750" indent="-285750">
              <a:buFont typeface="Arial" panose="020B0604020202020204" pitchFamily="34" charset="0"/>
              <a:buChar char="•"/>
            </a:pPr>
            <a:r>
              <a:rPr lang="en-US" dirty="0"/>
              <a:t>NLP on the review text we dropped — there might be gold in those customer comments</a:t>
            </a:r>
          </a:p>
          <a:p>
            <a:pPr marL="285750" indent="-285750">
              <a:buFont typeface="Arial" panose="020B0604020202020204" pitchFamily="34" charset="0"/>
              <a:buChar char="•"/>
            </a:pPr>
            <a:r>
              <a:rPr lang="en-US" dirty="0"/>
              <a:t>Finding the sweet spot for discounts — is there a level that actually drives conversions without killing margins?</a:t>
            </a:r>
          </a:p>
          <a:p>
            <a:pPr marL="285750" indent="-285750">
              <a:buFont typeface="Arial" panose="020B0604020202020204" pitchFamily="34" charset="0"/>
              <a:buChar char="•"/>
            </a:pPr>
            <a:r>
              <a:rPr lang="en-US" dirty="0"/>
              <a:t>Why Germany and Canada lag on margins — a proper country-level deep dive</a:t>
            </a:r>
          </a:p>
          <a:p>
            <a:pPr marL="285750" indent="-285750">
              <a:buFont typeface="Arial" panose="020B0604020202020204" pitchFamily="34" charset="0"/>
              <a:buChar char="•"/>
            </a:pPr>
            <a:r>
              <a:rPr lang="en-US" dirty="0"/>
              <a:t>A real customer segmentation model instead of just the labels we have</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13691749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124</TotalTime>
  <Words>1117</Words>
  <Application>Microsoft Office PowerPoint</Application>
  <PresentationFormat>Widescreen</PresentationFormat>
  <Paragraphs>129</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Century Gothic</vt:lpstr>
      <vt:lpstr>Wingdings</vt:lpstr>
      <vt:lpstr>Wingdings 3</vt:lpstr>
      <vt:lpstr>Ion</vt:lpstr>
      <vt:lpstr>Exploratory data Analysis using Python </vt:lpstr>
      <vt:lpstr>Project Goal</vt:lpstr>
      <vt:lpstr>Dataset Explanation</vt:lpstr>
      <vt:lpstr>Data cleaning</vt:lpstr>
      <vt:lpstr>Insights about the Numerical Data</vt:lpstr>
      <vt:lpstr>Corelation Heatmap</vt:lpstr>
      <vt:lpstr>Analysis for Categorical Data</vt:lpstr>
      <vt:lpstr>List Comprehension</vt:lpstr>
      <vt:lpstr>Lamda Function – User defined</vt:lpstr>
      <vt:lpstr>Insights after Analysis </vt:lpstr>
      <vt:lpstr>Insights after Analysis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Exploratory data Analysis using Python</dc:title>
  <dc:creator>Microsoft account</dc:creator>
  <cp:lastModifiedBy>Sanjeev Lohchab</cp:lastModifiedBy>
  <cp:revision>11</cp:revision>
  <dcterms:created xsi:type="dcterms:W3CDTF">2026-03-14T15:46:01Z</dcterms:created>
  <dcterms:modified xsi:type="dcterms:W3CDTF">2026-03-15T01:33:47Z</dcterms:modified>
</cp:coreProperties>
</file>